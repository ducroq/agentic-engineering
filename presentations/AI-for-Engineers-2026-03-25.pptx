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AI for Engineers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Understanding Before Using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Engineers Research Team |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What Are We Actually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Talking About?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60-second stack, bottom to top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The AI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3657600" cy="82296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39776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that learns patterns from data instead of following hand-written rules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3657600" cy="82296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with many layers of neurons. The 'deep' is literally 'more layers'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36576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trained on text. A very sophisticated pattern completer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1097280"/>
            <a:ext cx="36576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AI Agents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0972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in a loop: read context, decide, use tools, check result, repeat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only as good as the model inside it, and the model is a pattern completer.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011680" y="731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here has used ChatGPT or Copilot? Who has used it for something beyond a simple question — generating code, writing a report, analyzing data?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QUESTION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Part 1: 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engineers use AI?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The Uncomfortable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84-90%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software dev teams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daily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18872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47%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749040" y="2377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negative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96%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fully trust AI,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only 48% verify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reveals problems rather than building confidence. The opposite of normal technology adoption.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Stack Overflow, JetBrains, McKinsey 2025, Sonar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The Productivity Paradox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(simple tasks)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+55.8% faster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 et al. 2023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deployment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+8.69%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(+16% more build failures)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Accenture 2024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Experienced devs, real codebases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500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-19% slower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 2025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 slower with AI while perceiving themselves 20% faster.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39-percentage-point perception gap.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54864" cy="1828800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easy things easier.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engineering is rarely easy.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011680" y="731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of hands — who uses AI tools in their daily work? And who has a systematic way of checking whether the output is correct?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QUESTION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Beyond Software: "Real"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Chemical (HAZOP)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188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&gt;86% textual similarity but only 19-37% semantically valid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et al.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54864" cy="731520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57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Civil (FE exam)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057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on Structural Design, 100% on Ethics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Naser et al. 2023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54864" cy="731520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Mechanical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926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47-60% on core ME problems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Akolekar et al. 2025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54864" cy="731520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Electrical (PCB)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794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hallucinated electronic components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JITX 2024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AI produces outputs that look professionally competent but contain errors only domain experts catch.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011680" y="731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anyone here encountered AI output that looked correct at first glance but turned out to be wrong? What tipped you off?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QUESTION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Part 2: Four Patterns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genuinely new when engineers work with AI agents?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Pattern 1: Learn the Material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have behavioral properties, like material properties in physical engineering.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Confident but wrong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6/22 claims over-confident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observe, can't 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Sees table, scores structure=1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Plausible-but-wrong output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units, right magnitude, wrong answer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575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Scores regress to mean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work scored low, low scored 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7575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wouldn't use steel without knowing its fatigue properties. </a:t>
            </a:r>
            <a:pPr indent="0" marL="0">
              <a:buNone/>
            </a:pPr>
            <a:r>
              <a:rPr lang="en-US" sz="15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use LLMs without knowing theirs.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011680" y="731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use a new material or tool for the first time — how do you learn its limits? Do you do the same with AI?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QUESTION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Pattern 2: Layer Your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V&amp;V is old. V&amp;V that costs minutes instead of months is new.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7373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10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83464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8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4632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by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alone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7373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0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85800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OPAL PCB Design Review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verification is cheap, layer it. Run another pass. Audit the auditors.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011680" y="731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domain, how many independent checks does a design go through before it ships? What if you could add five more checks for the cost of a coffee?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QUESTION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Pattern 3: Context Is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have an auto-loading cliff: what's loaded gets used; everything else is invisible.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the cliff (auto-loaded)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sees this, acts on 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3657600" cy="0"/>
          </a:xfrm>
          <a:prstGeom prst="line">
            <a:avLst/>
          </a:prstGeom>
          <a:noFill/>
          <a:ln w="38100">
            <a:solidFill>
              <a:srgbClr val="E5005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31520" y="3108960"/>
            <a:ext cx="3657600" cy="109728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cliff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Invisible. Zero impact on behavior.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4023360" cy="10058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56"/>
                </a:solidFill>
              </a:rPr>
              <a:t>Doesn't work:
</a:t>
            </a:r>
            <a:pPr indent="0" marL="0">
              <a:buNone/>
            </a:pPr>
            <a:r>
              <a:rPr lang="en-US" sz="1200" dirty="0">
                <a:solidFill>
                  <a:srgbClr val="45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API troubleshooting | docs/api-quirks.md |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4023360" cy="1005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1089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Works:
</a:t>
            </a:r>
            <a:pPr indent="0" marL="0">
              <a:buNone/>
            </a:pPr>
            <a:r>
              <a:rPr lang="en-US" sz="1200" dirty="0">
                <a:solidFill>
                  <a:srgbClr val="45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API returns 422 | docs/api-quirks.md |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vs. situations. Agents recognize situations.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Pattern 4: Reproduce, Don't Assess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this look right?" </a:t>
            </a:r>
            <a:pPr indent="0" marL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nothing. 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answer do I get?" 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everything.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0" cy="25603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Assessment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+ Gemini reviewed
68 equations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found: </a:t>
            </a:r>
            <a:endParaRPr lang="en-US" sz="14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4023360" cy="2560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920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Reproduction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23774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step-by-step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found: </a:t>
            </a:r>
            <a:endParaRPr lang="en-US" sz="14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 coupling error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84ms vs 43ms dwell time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s/hr stated as 36 s/hr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errors had correct units and plausible magnitudes — invisible to assessment.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011680" y="731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how you review a colleague's calculations. Do you check the answer, or do you redo the calculation? What changes when the 'colleague' is an AI?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QUESTION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Part 3: What This Means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For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decision rules and honest limits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Quick Decision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gave me a number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1188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0" y="11887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scored or rated something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1920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trust it — separate scoring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19202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51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sounds very confident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evidence tier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2651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832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isn't using my docs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3383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it's below the cliff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383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review pass found nothing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114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another layer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4114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0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2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Honest Limits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 researcher, 9 projects, no controlled comparison
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four LLM properties may fade in 12-24 months
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practitioner's hypothesis, not a validated framework
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Survivorship bias — failed attempts are absent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500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49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the underlying principles — verify, layer, design context, know your materials — are permanent. The specific techniques will evolve.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54864" cy="1828800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no longer producing engineering work.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knowing whether the work is any good.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54864" cy="1828800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engineers to use AI without teaching them to evaluate AI outputs is like teaching them to read test results without teaching them what the results mean.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011680" y="731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tomorrow — which one of these four patterns could you apply to your current project?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QUESTION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Patterns for AI-Augmented Engineering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32004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1. Learn the Material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2. Layer Your Verification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3. Context Is Architecture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50056"/>
                </a:solidFill>
                <a:latin typeface="Avenir Next Condensed Medium" pitchFamily="34" charset="0"/>
                <a:ea typeface="Avenir Next Condensed Medium" pitchFamily="34" charset="-122"/>
                <a:cs typeface="Avenir Next Condensed Medium" pitchFamily="34" charset="-120"/>
              </a:rPr>
              <a:t>4. Reproduce, Don't Assess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Engineers: Understanding Before Using</dc:title>
  <dc:subject>PptxGenJS Presentation</dc:subject>
  <dc:creator>Scott Bryan</dc:creator>
  <cp:lastModifiedBy>Scott Bryan</cp:lastModifiedBy>
  <cp:revision>1</cp:revision>
  <dcterms:created xsi:type="dcterms:W3CDTF">2026-03-25T09:41:26Z</dcterms:created>
  <dcterms:modified xsi:type="dcterms:W3CDTF">2026-03-25T09:41:26Z</dcterms:modified>
</cp:coreProperties>
</file>